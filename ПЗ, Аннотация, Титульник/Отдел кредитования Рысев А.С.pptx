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4" r:id="rId15"/>
    <p:sldId id="269" r:id="rId16"/>
    <p:sldId id="270" r:id="rId17"/>
    <p:sldId id="271" r:id="rId18"/>
    <p:sldId id="273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ED7E0529-18AD-45CB-B2DD-272B45A0FBFE}" type="datetimeFigureOut">
              <a:rPr lang="ru-RU" smtClean="0"/>
            </a:fld>
            <a:endParaRPr lang="ru-RU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BFEDE6F-9977-46E3-8FE7-9DD4B49CC925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15176" y="2801352"/>
            <a:ext cx="9418320" cy="1255295"/>
          </a:xfrm>
        </p:spPr>
        <p:txBody>
          <a:bodyPr>
            <a:normAutofit fontScale="90000"/>
          </a:bodyPr>
          <a:lstStyle/>
          <a:p>
            <a:pPr algn="ctr"/>
            <a:br>
              <a:rPr lang="ru-RU" dirty="0"/>
            </a:br>
            <a:r>
              <a:rPr lang="ru-RU" dirty="0"/>
              <a:t>Курсовая работа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Тема: АИС отдела кредитования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048000" y="5202238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Выполнил: Студент ИБ-122 Рысев А.С.</a:t>
            </a:r>
            <a:endParaRPr lang="ru-RU" dirty="0"/>
          </a:p>
          <a:p>
            <a:pPr algn="r"/>
            <a:r>
              <a:rPr lang="ru-RU" dirty="0"/>
              <a:t>Руководитель: Колпаков А. А.</a:t>
            </a:r>
            <a:endParaRPr lang="ru-RU" dirty="0"/>
          </a:p>
        </p:txBody>
      </p:sp>
      <p:sp>
        <p:nvSpPr>
          <p:cNvPr id="4" name="Подзаголовок 2"/>
          <p:cNvSpPr>
            <a:spLocks noGrp="1"/>
          </p:cNvSpPr>
          <p:nvPr/>
        </p:nvSpPr>
        <p:spPr>
          <a:xfrm>
            <a:off x="603466" y="150579"/>
            <a:ext cx="1124174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Муромский институт (филиал) федерального государственного бюджетного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образовательного учреждения высшего образования «Владимирский государственный университет имени Александра Григорьевича и Николая Григорьевича Столетовых».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810" y="182245"/>
            <a:ext cx="11788775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/>
              <a:t>Целью</a:t>
            </a:r>
            <a:r>
              <a:rPr lang="en-US" altLang="ru-RU" sz="3200" dirty="0"/>
              <a:t> </a:t>
            </a:r>
            <a:r>
              <a:rPr lang="en-US" altLang="en-US" sz="3200" dirty="0"/>
              <a:t>данной</a:t>
            </a:r>
            <a:r>
              <a:rPr lang="en-US" altLang="ru-RU" sz="3200" dirty="0"/>
              <a:t> </a:t>
            </a:r>
            <a:r>
              <a:rPr lang="en-US" altLang="en-US" sz="3200" dirty="0"/>
              <a:t>курсовой</a:t>
            </a:r>
            <a:r>
              <a:rPr lang="en-US" altLang="ru-RU" sz="3200" dirty="0"/>
              <a:t> </a:t>
            </a:r>
            <a:r>
              <a:rPr lang="en-US" altLang="en-US" sz="3200" dirty="0"/>
              <a:t>работы</a:t>
            </a:r>
            <a:r>
              <a:rPr lang="en-US" altLang="ru-RU" sz="3200" dirty="0"/>
              <a:t> </a:t>
            </a:r>
            <a:r>
              <a:rPr lang="en-US" altLang="en-US" sz="3200" dirty="0"/>
              <a:t>является</a:t>
            </a:r>
            <a:r>
              <a:rPr lang="en-US" altLang="ru-RU" sz="3200" dirty="0"/>
              <a:t> </a:t>
            </a:r>
            <a:r>
              <a:rPr lang="en-US" altLang="en-US" sz="3200" dirty="0"/>
              <a:t>разработка</a:t>
            </a:r>
            <a:r>
              <a:rPr lang="en-US" altLang="ru-RU" sz="3200" dirty="0"/>
              <a:t> </a:t>
            </a:r>
            <a:r>
              <a:rPr lang="en-US" altLang="en-US" sz="3200" dirty="0"/>
              <a:t>информационной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системы</a:t>
            </a:r>
            <a:r>
              <a:rPr lang="en-US" altLang="ru-RU" sz="3200" dirty="0"/>
              <a:t> </a:t>
            </a:r>
            <a:r>
              <a:rPr lang="en-US" altLang="en-US" sz="3200" dirty="0"/>
              <a:t>для</a:t>
            </a:r>
            <a:r>
              <a:rPr lang="en-US" altLang="ru-RU" sz="3200" dirty="0"/>
              <a:t> </a:t>
            </a:r>
            <a:r>
              <a:rPr lang="en-US" altLang="en-US" sz="3200" dirty="0"/>
              <a:t>автоматизации</a:t>
            </a:r>
            <a:r>
              <a:rPr lang="en-US" altLang="ru-RU" sz="3200" dirty="0"/>
              <a:t> </a:t>
            </a:r>
            <a:r>
              <a:rPr lang="en-US" altLang="en-US" sz="3200" dirty="0"/>
              <a:t>работы</a:t>
            </a:r>
            <a:r>
              <a:rPr lang="en-US" altLang="ru-RU" sz="3200" dirty="0"/>
              <a:t> </a:t>
            </a:r>
            <a:r>
              <a:rPr lang="en-US" altLang="en-US" sz="3200" dirty="0"/>
              <a:t>отдела</a:t>
            </a:r>
            <a:r>
              <a:rPr lang="en-US" altLang="ru-RU" sz="3200" dirty="0"/>
              <a:t> </a:t>
            </a:r>
            <a:r>
              <a:rPr lang="en-US" altLang="en-US" sz="3200" dirty="0"/>
              <a:t>кредитования</a:t>
            </a:r>
            <a:r>
              <a:rPr lang="en-US" altLang="ru-RU" sz="3200" dirty="0"/>
              <a:t>, </a:t>
            </a:r>
            <a:r>
              <a:rPr lang="en-US" altLang="en-US" sz="3200" dirty="0"/>
              <a:t>которая</a:t>
            </a:r>
            <a:r>
              <a:rPr lang="en-US" altLang="ru-RU" sz="3200" dirty="0"/>
              <a:t> </a:t>
            </a:r>
            <a:r>
              <a:rPr lang="en-US" altLang="en-US" sz="3200" dirty="0"/>
              <a:t>будет</a:t>
            </a:r>
            <a:r>
              <a:rPr lang="en-US" altLang="ru-RU" sz="3200" dirty="0"/>
              <a:t> </a:t>
            </a:r>
            <a:r>
              <a:rPr lang="en-US" altLang="en-US" sz="3200" dirty="0"/>
              <a:t>обеспечивать</a:t>
            </a:r>
            <a:r>
              <a:rPr lang="en-US" altLang="ru-RU" sz="3200" dirty="0"/>
              <a:t> </a:t>
            </a:r>
            <a:r>
              <a:rPr lang="en-US" altLang="en-US" sz="3200" dirty="0"/>
              <a:t>удобное</a:t>
            </a:r>
            <a:r>
              <a:rPr lang="en-US" altLang="ru-RU" sz="3200" dirty="0"/>
              <a:t> </a:t>
            </a:r>
            <a:r>
              <a:rPr lang="en-US" altLang="en-US" sz="3200" dirty="0"/>
              <a:t>взаимодействие</a:t>
            </a:r>
            <a:r>
              <a:rPr lang="en-US" altLang="ru-RU" sz="3200" dirty="0"/>
              <a:t> </a:t>
            </a:r>
            <a:r>
              <a:rPr lang="en-US" altLang="en-US" sz="3200" dirty="0"/>
              <a:t>сотрудников</a:t>
            </a:r>
            <a:r>
              <a:rPr lang="en-US" altLang="ru-RU" sz="3200" dirty="0"/>
              <a:t> </a:t>
            </a:r>
            <a:r>
              <a:rPr lang="en-US" altLang="en-US" sz="3200" dirty="0"/>
              <a:t>с</a:t>
            </a:r>
            <a:r>
              <a:rPr lang="en-US" altLang="ru-RU" sz="3200" dirty="0"/>
              <a:t> </a:t>
            </a:r>
            <a:r>
              <a:rPr lang="en-US" altLang="en-US" sz="3200" dirty="0"/>
              <a:t>базой</a:t>
            </a:r>
            <a:r>
              <a:rPr lang="en-US" altLang="ru-RU" sz="3200" dirty="0"/>
              <a:t> </a:t>
            </a:r>
            <a:r>
              <a:rPr lang="en-US" altLang="en-US" sz="3200" dirty="0"/>
              <a:t>данных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повышать</a:t>
            </a:r>
            <a:r>
              <a:rPr lang="en-US" altLang="ru-RU" sz="3200" dirty="0"/>
              <a:t> </a:t>
            </a:r>
            <a:r>
              <a:rPr lang="en-US" altLang="en-US" sz="3200" dirty="0"/>
              <a:t>эффективность</a:t>
            </a:r>
            <a:r>
              <a:rPr lang="en-US" altLang="ru-RU" sz="3200" dirty="0"/>
              <a:t> </a:t>
            </a:r>
            <a:r>
              <a:rPr lang="en-US" altLang="en-US" sz="3200" dirty="0"/>
              <a:t>обработки</a:t>
            </a:r>
            <a:r>
              <a:rPr lang="en-US" altLang="ru-RU" sz="3200" dirty="0"/>
              <a:t> </a:t>
            </a:r>
            <a:r>
              <a:rPr lang="en-US" altLang="en-US" sz="3200" dirty="0"/>
              <a:t>информации</a:t>
            </a:r>
            <a:r>
              <a:rPr lang="ru-RU" sz="3200" dirty="0"/>
              <a:t>.</a:t>
            </a:r>
            <a:endParaRPr lang="ru-RU" sz="3200" dirty="0"/>
          </a:p>
          <a:p>
            <a:r>
              <a:rPr lang="ru-RU" sz="3200" dirty="0"/>
              <a:t>Задачи:</a:t>
            </a:r>
            <a:endParaRPr lang="ru-RU" sz="3200" dirty="0"/>
          </a:p>
          <a:p>
            <a:pPr marL="285750" indent="-285750">
              <a:buFontTx/>
              <a:buChar char="-"/>
            </a:pPr>
            <a:r>
              <a:rPr lang="ru-RU" altLang="en-US" sz="3200" dirty="0"/>
              <a:t>Р</a:t>
            </a:r>
            <a:r>
              <a:rPr lang="en-US" altLang="en-US" sz="3200" dirty="0"/>
              <a:t>азработать</a:t>
            </a:r>
            <a:r>
              <a:rPr lang="en-US" altLang="ru-RU" sz="3200" dirty="0"/>
              <a:t> </a:t>
            </a:r>
            <a:r>
              <a:rPr lang="en-US" altLang="en-US" sz="3200" dirty="0"/>
              <a:t>концептуальную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логическую</a:t>
            </a:r>
            <a:r>
              <a:rPr lang="en-US" altLang="ru-RU" sz="3200" dirty="0"/>
              <a:t> </a:t>
            </a:r>
            <a:r>
              <a:rPr lang="en-US" altLang="en-US" sz="3200" dirty="0"/>
              <a:t>модели</a:t>
            </a:r>
            <a:r>
              <a:rPr lang="en-US" altLang="ru-RU" sz="3200" dirty="0"/>
              <a:t> </a:t>
            </a:r>
            <a:r>
              <a:rPr lang="en-US" altLang="en-US" sz="3200" dirty="0"/>
              <a:t>данных</a:t>
            </a:r>
            <a:r>
              <a:rPr lang="en-US" altLang="ru-RU" sz="3200" dirty="0"/>
              <a:t>, </a:t>
            </a:r>
            <a:r>
              <a:rPr lang="en-US" altLang="en-US" sz="3200" dirty="0"/>
              <a:t>отражающие</a:t>
            </a:r>
            <a:r>
              <a:rPr lang="en-US" altLang="ru-RU" sz="3200" dirty="0"/>
              <a:t> </a:t>
            </a:r>
            <a:r>
              <a:rPr lang="en-US" altLang="en-US" sz="3200" dirty="0"/>
              <a:t>структуру</a:t>
            </a:r>
            <a:r>
              <a:rPr lang="en-US" altLang="ru-RU" sz="3200" dirty="0"/>
              <a:t> </a:t>
            </a:r>
            <a:r>
              <a:rPr lang="en-US" altLang="en-US" sz="3200" dirty="0"/>
              <a:t>кредитных</a:t>
            </a:r>
            <a:r>
              <a:rPr lang="en-US" altLang="ru-RU" sz="3200" dirty="0"/>
              <a:t> </a:t>
            </a:r>
            <a:r>
              <a:rPr lang="en-US" altLang="en-US" sz="3200" dirty="0"/>
              <a:t>процессов</a:t>
            </a:r>
            <a:r>
              <a:rPr lang="en-US" sz="3200" dirty="0"/>
              <a:t>;</a:t>
            </a:r>
            <a:endParaRPr lang="en-US" sz="3200" dirty="0"/>
          </a:p>
          <a:p>
            <a:pPr marL="285750" indent="-285750">
              <a:buFontTx/>
              <a:buChar char="-"/>
            </a:pPr>
            <a:r>
              <a:rPr lang="en-US" altLang="en-US" sz="3200" dirty="0"/>
              <a:t>Спроектировать</a:t>
            </a:r>
            <a:r>
              <a:rPr lang="en-US" altLang="ru-RU" sz="3200" dirty="0"/>
              <a:t> </a:t>
            </a:r>
            <a:r>
              <a:rPr lang="en-US" altLang="en-US" sz="3200" dirty="0"/>
              <a:t>базу</a:t>
            </a:r>
            <a:r>
              <a:rPr lang="en-US" altLang="ru-RU" sz="3200" dirty="0"/>
              <a:t> </a:t>
            </a:r>
            <a:r>
              <a:rPr lang="en-US" altLang="en-US" sz="3200" dirty="0"/>
              <a:t>данных</a:t>
            </a:r>
            <a:r>
              <a:rPr lang="en-US" altLang="ru-RU" sz="3200" dirty="0"/>
              <a:t> </a:t>
            </a:r>
            <a:r>
              <a:rPr lang="en-US" altLang="en-US" sz="3200" dirty="0"/>
              <a:t>для</a:t>
            </a:r>
            <a:r>
              <a:rPr lang="en-US" altLang="ru-RU" sz="3200" dirty="0"/>
              <a:t> </a:t>
            </a:r>
            <a:r>
              <a:rPr lang="en-US" altLang="en-US" sz="3200" dirty="0"/>
              <a:t>учета</a:t>
            </a:r>
            <a:r>
              <a:rPr lang="en-US" altLang="ru-RU" sz="3200" dirty="0"/>
              <a:t> </a:t>
            </a:r>
            <a:r>
              <a:rPr lang="en-US" altLang="en-US" sz="3200" dirty="0"/>
              <a:t>клиентов</a:t>
            </a:r>
            <a:r>
              <a:rPr lang="en-US" altLang="ru-RU" sz="3200" dirty="0"/>
              <a:t>, </a:t>
            </a:r>
            <a:r>
              <a:rPr lang="en-US" altLang="en-US" sz="3200" dirty="0"/>
              <a:t>кредитных</a:t>
            </a:r>
            <a:r>
              <a:rPr lang="en-US" altLang="ru-RU" sz="3200" dirty="0"/>
              <a:t> </a:t>
            </a:r>
            <a:r>
              <a:rPr lang="en-US" altLang="en-US" sz="3200" dirty="0"/>
              <a:t>договоров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финансовых</a:t>
            </a:r>
            <a:r>
              <a:rPr lang="en-US" altLang="ru-RU" sz="3200" dirty="0"/>
              <a:t> </a:t>
            </a:r>
            <a:r>
              <a:rPr lang="en-US" altLang="en-US" sz="3200" dirty="0"/>
              <a:t>операций</a:t>
            </a:r>
            <a:r>
              <a:rPr lang="en-US" sz="3200" dirty="0"/>
              <a:t>;</a:t>
            </a:r>
            <a:endParaRPr lang="en-US" sz="3200" dirty="0"/>
          </a:p>
          <a:p>
            <a:pPr marL="285750" indent="-285750">
              <a:buFontTx/>
              <a:buChar char="-"/>
            </a:pPr>
            <a:r>
              <a:rPr lang="en-US" altLang="en-US" sz="3200" dirty="0"/>
              <a:t>Создать</a:t>
            </a:r>
            <a:r>
              <a:rPr lang="en-US" altLang="ru-RU" sz="3200" dirty="0"/>
              <a:t> </a:t>
            </a:r>
            <a:r>
              <a:rPr lang="en-US" altLang="en-US" sz="3200" dirty="0"/>
              <a:t>многопользовательское</a:t>
            </a:r>
            <a:r>
              <a:rPr lang="en-US" altLang="ru-RU" sz="3200" dirty="0"/>
              <a:t> </a:t>
            </a:r>
            <a:r>
              <a:rPr lang="en-US" altLang="en-US" sz="3200" dirty="0"/>
              <a:t>приложение</a:t>
            </a:r>
            <a:r>
              <a:rPr lang="en-US" altLang="ru-RU" sz="3200" dirty="0"/>
              <a:t> </a:t>
            </a:r>
            <a:r>
              <a:rPr lang="en-US" altLang="en-US" sz="3200" dirty="0"/>
              <a:t>для</a:t>
            </a:r>
            <a:r>
              <a:rPr lang="en-US" altLang="ru-RU" sz="3200" dirty="0"/>
              <a:t> </a:t>
            </a:r>
            <a:r>
              <a:rPr lang="en-US" altLang="en-US" sz="3200" dirty="0"/>
              <a:t>работы</a:t>
            </a:r>
            <a:r>
              <a:rPr lang="en-US" altLang="ru-RU" sz="3200" dirty="0"/>
              <a:t> </a:t>
            </a:r>
            <a:r>
              <a:rPr lang="en-US" altLang="en-US" sz="3200" dirty="0"/>
              <a:t>с</a:t>
            </a:r>
            <a:r>
              <a:rPr lang="en-US" altLang="ru-RU" sz="3200" dirty="0"/>
              <a:t> </a:t>
            </a:r>
            <a:r>
              <a:rPr lang="en-US" altLang="en-US" sz="3200" dirty="0"/>
              <a:t>базой</a:t>
            </a:r>
            <a:r>
              <a:rPr lang="en-US" altLang="ru-RU" sz="3200" dirty="0"/>
              <a:t> </a:t>
            </a:r>
            <a:r>
              <a:rPr lang="en-US" altLang="en-US" sz="3200" dirty="0"/>
              <a:t>данных</a:t>
            </a:r>
            <a:r>
              <a:rPr lang="en-US" altLang="ru-RU" sz="3200" dirty="0"/>
              <a:t>, </a:t>
            </a:r>
            <a:r>
              <a:rPr lang="en-US" altLang="en-US" sz="3200" dirty="0"/>
              <a:t>обеспечивающее</a:t>
            </a:r>
            <a:r>
              <a:rPr lang="en-US" altLang="ru-RU" sz="3200" dirty="0"/>
              <a:t> </a:t>
            </a:r>
            <a:r>
              <a:rPr lang="en-US" altLang="en-US" sz="3200" dirty="0"/>
              <a:t>удобный</a:t>
            </a:r>
            <a:r>
              <a:rPr lang="en-US" altLang="ru-RU" sz="3200" dirty="0"/>
              <a:t> </a:t>
            </a:r>
            <a:r>
              <a:rPr lang="en-US" altLang="en-US" sz="3200" dirty="0"/>
              <a:t>интерфейс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функции</a:t>
            </a:r>
            <a:r>
              <a:rPr lang="en-US" altLang="ru-RU" sz="3200" dirty="0"/>
              <a:t> </a:t>
            </a:r>
            <a:r>
              <a:rPr lang="en-US" altLang="en-US" sz="3200" dirty="0"/>
              <a:t>для</a:t>
            </a:r>
            <a:r>
              <a:rPr lang="en-US" altLang="ru-RU" sz="3200" dirty="0"/>
              <a:t> </a:t>
            </a:r>
            <a:r>
              <a:rPr lang="en-US" altLang="en-US" sz="3200" dirty="0"/>
              <a:t>обработки</a:t>
            </a:r>
            <a:r>
              <a:rPr lang="en-US" altLang="ru-RU" sz="3200" dirty="0"/>
              <a:t> </a:t>
            </a:r>
            <a:r>
              <a:rPr lang="en-US" altLang="en-US" sz="3200" dirty="0"/>
              <a:t>запросов</a:t>
            </a:r>
            <a:r>
              <a:rPr lang="ru-RU" sz="3200" dirty="0"/>
              <a:t>.</a:t>
            </a:r>
            <a:endParaRPr lang="ru-RU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0819" y="0"/>
            <a:ext cx="9692640" cy="118711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Таблицы сравнений языков, сред программирования и СУБД</a:t>
            </a:r>
            <a:endParaRPr lang="ru-RU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 b="3961"/>
          <a:stretch>
            <a:fillRect/>
          </a:stretch>
        </p:blipFill>
        <p:spPr>
          <a:xfrm>
            <a:off x="266700" y="1304290"/>
            <a:ext cx="6105525" cy="239776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" y="3829050"/>
            <a:ext cx="6046470" cy="249301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1389380"/>
            <a:ext cx="5754370" cy="2277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593558"/>
            <a:ext cx="9418320" cy="107883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Описание предметной области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61872" y="1672390"/>
            <a:ext cx="9418320" cy="4819850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данной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работе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рассматривается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Отдел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кредитования</a:t>
            </a:r>
            <a:r>
              <a:rPr lang="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задачей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автоматизации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процесса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оформления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кредитов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Предполагаемая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должна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обеспечивать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работу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отдела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кредитования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учету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выданных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кредитов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различного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типа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автоматизированную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генерацию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отчетов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операциям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определённые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периоды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категориям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кредитов</a:t>
            </a:r>
            <a:r>
              <a:rPr lang="en-US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-336885"/>
            <a:ext cx="9418320" cy="918411"/>
          </a:xfrm>
        </p:spPr>
        <p:txBody>
          <a:bodyPr>
            <a:normAutofit/>
          </a:bodyPr>
          <a:lstStyle/>
          <a:p>
            <a:pPr algn="ctr"/>
            <a:r>
              <a:rPr lang="ru-RU" sz="4400" dirty="0"/>
              <a:t>Концептуальная модель данных</a:t>
            </a:r>
            <a:endParaRPr lang="ru-RU" sz="4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917851" y="5986807"/>
            <a:ext cx="6331918" cy="918411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Рис. 1 – концептуальная модель данных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65" name="Изображение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195" y="590550"/>
            <a:ext cx="9127490" cy="53873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Текстовое поле 3"/>
          <p:cNvSpPr txBox="1"/>
          <p:nvPr/>
        </p:nvSpPr>
        <p:spPr>
          <a:xfrm>
            <a:off x="9544685" y="1092835"/>
            <a:ext cx="26479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Связи</a:t>
            </a:r>
            <a:r>
              <a:rPr lang="en-US" altLang="ru-RU"/>
              <a:t>:</a:t>
            </a:r>
            <a:endParaRPr lang="en-US" altLang="ru-RU"/>
          </a:p>
          <a:p>
            <a:r>
              <a:rPr lang="en-US" altLang="ru-RU"/>
              <a:t>1)</a:t>
            </a:r>
            <a:r>
              <a:rPr lang="en-US" altLang="en-US"/>
              <a:t>Сотрудник</a:t>
            </a:r>
            <a:r>
              <a:rPr lang="en-US" altLang="ru-RU"/>
              <a:t> - </a:t>
            </a:r>
            <a:r>
              <a:rPr lang="en-US" altLang="en-US"/>
              <a:t>Договор</a:t>
            </a:r>
            <a:r>
              <a:rPr lang="en-US" altLang="ru-RU"/>
              <a:t> - </a:t>
            </a:r>
            <a:r>
              <a:rPr lang="en-US" altLang="en-US"/>
              <a:t>Один</a:t>
            </a:r>
            <a:r>
              <a:rPr lang="en-US" altLang="ru-RU"/>
              <a:t> </a:t>
            </a:r>
            <a:r>
              <a:rPr lang="en-US" altLang="en-US"/>
              <a:t>ко</a:t>
            </a:r>
            <a:r>
              <a:rPr lang="en-US" altLang="ru-RU"/>
              <a:t> </a:t>
            </a:r>
            <a:r>
              <a:rPr lang="en-US" altLang="en-US"/>
              <a:t>многим</a:t>
            </a:r>
            <a:endParaRPr lang="en-US" altLang="en-US"/>
          </a:p>
          <a:p>
            <a:r>
              <a:rPr lang="en-US" altLang="ru-RU"/>
              <a:t>2)</a:t>
            </a:r>
            <a:r>
              <a:rPr lang="en-US" altLang="en-US"/>
              <a:t>Договор</a:t>
            </a:r>
            <a:r>
              <a:rPr lang="en-US" altLang="ru-RU"/>
              <a:t> - </a:t>
            </a:r>
            <a:r>
              <a:rPr lang="en-US" altLang="en-US"/>
              <a:t>Кредит</a:t>
            </a:r>
            <a:r>
              <a:rPr lang="en-US" altLang="ru-RU"/>
              <a:t> - </a:t>
            </a:r>
            <a:r>
              <a:rPr lang="en-US" altLang="en-US"/>
              <a:t>Один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одному</a:t>
            </a:r>
            <a:endParaRPr lang="en-US" altLang="en-US"/>
          </a:p>
          <a:p>
            <a:r>
              <a:rPr lang="en-US" altLang="ru-RU"/>
              <a:t>3)</a:t>
            </a:r>
            <a:r>
              <a:rPr lang="en-US" altLang="en-US"/>
              <a:t>Клиент</a:t>
            </a:r>
            <a:r>
              <a:rPr lang="en-US" altLang="ru-RU"/>
              <a:t> - </a:t>
            </a:r>
            <a:r>
              <a:rPr lang="en-US" altLang="en-US"/>
              <a:t>Договор</a:t>
            </a:r>
            <a:r>
              <a:rPr lang="en-US" altLang="ru-RU"/>
              <a:t> - </a:t>
            </a:r>
            <a:r>
              <a:rPr lang="en-US" altLang="en-US"/>
              <a:t>Один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одному</a:t>
            </a:r>
            <a:endParaRPr lang="en-US" altLang="en-US"/>
          </a:p>
          <a:p>
            <a:r>
              <a:rPr lang="en-US" altLang="ru-RU"/>
              <a:t>4)</a:t>
            </a:r>
            <a:r>
              <a:rPr lang="en-US" altLang="en-US"/>
              <a:t>Платеж</a:t>
            </a:r>
            <a:r>
              <a:rPr lang="en-US" altLang="ru-RU"/>
              <a:t> - </a:t>
            </a:r>
            <a:r>
              <a:rPr lang="en-US" altLang="en-US"/>
              <a:t>Кредит</a:t>
            </a:r>
            <a:r>
              <a:rPr lang="en-US" altLang="ru-RU"/>
              <a:t> - </a:t>
            </a:r>
            <a:r>
              <a:rPr lang="en-US" altLang="en-US"/>
              <a:t>Многие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одному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147186"/>
            <a:ext cx="9418320" cy="43714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dirty="0"/>
              <a:t>Логическая модель данных</a:t>
            </a:r>
            <a:endParaRPr lang="ru-RU" sz="4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86840" y="6273065"/>
            <a:ext cx="9418320" cy="437147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Рис. 2 – логическая модель данных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5" name="Изображение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865" y="584200"/>
            <a:ext cx="7016750" cy="5542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8515985" y="1583055"/>
            <a:ext cx="36760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ym typeface="+mn-ea"/>
              </a:rPr>
              <a:t>Связи</a:t>
            </a:r>
            <a:r>
              <a:rPr lang="en-US" altLang="ru-RU">
                <a:sym typeface="+mn-ea"/>
              </a:rPr>
              <a:t>:</a:t>
            </a:r>
            <a:endParaRPr lang="en-US" altLang="ru-RU"/>
          </a:p>
          <a:p>
            <a:r>
              <a:rPr lang="en-US" altLang="ru-RU">
                <a:sym typeface="+mn-ea"/>
              </a:rPr>
              <a:t>1)</a:t>
            </a:r>
            <a:r>
              <a:rPr lang="en-US" altLang="en-US">
                <a:sym typeface="+mn-ea"/>
              </a:rPr>
              <a:t>Сотрудник</a:t>
            </a:r>
            <a:r>
              <a:rPr lang="en-US" altLang="ru-RU">
                <a:sym typeface="+mn-ea"/>
              </a:rPr>
              <a:t> - </a:t>
            </a:r>
            <a:r>
              <a:rPr lang="en-US" altLang="en-US">
                <a:sym typeface="+mn-ea"/>
              </a:rPr>
              <a:t>Договор</a:t>
            </a:r>
            <a:r>
              <a:rPr lang="en-US" altLang="ru-RU">
                <a:sym typeface="+mn-ea"/>
              </a:rPr>
              <a:t> - </a:t>
            </a:r>
            <a:r>
              <a:rPr lang="en-US" altLang="en-US">
                <a:sym typeface="+mn-ea"/>
              </a:rPr>
              <a:t>Один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ко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многим</a:t>
            </a:r>
            <a:endParaRPr lang="en-US" altLang="en-US"/>
          </a:p>
          <a:p>
            <a:r>
              <a:rPr lang="en-US" altLang="ru-RU">
                <a:sym typeface="+mn-ea"/>
              </a:rPr>
              <a:t>2)</a:t>
            </a:r>
            <a:r>
              <a:rPr lang="en-US" altLang="en-US">
                <a:sym typeface="+mn-ea"/>
              </a:rPr>
              <a:t>Договор</a:t>
            </a:r>
            <a:r>
              <a:rPr lang="en-US" altLang="ru-RU">
                <a:sym typeface="+mn-ea"/>
              </a:rPr>
              <a:t> - </a:t>
            </a:r>
            <a:r>
              <a:rPr lang="en-US" altLang="en-US">
                <a:sym typeface="+mn-ea"/>
              </a:rPr>
              <a:t>Кредит</a:t>
            </a:r>
            <a:r>
              <a:rPr lang="en-US" altLang="ru-RU">
                <a:sym typeface="+mn-ea"/>
              </a:rPr>
              <a:t> - </a:t>
            </a:r>
            <a:r>
              <a:rPr lang="en-US" altLang="en-US">
                <a:sym typeface="+mn-ea"/>
              </a:rPr>
              <a:t>Один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к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одному</a:t>
            </a:r>
            <a:endParaRPr lang="en-US" altLang="en-US"/>
          </a:p>
          <a:p>
            <a:r>
              <a:rPr lang="en-US" altLang="ru-RU">
                <a:sym typeface="+mn-ea"/>
              </a:rPr>
              <a:t>3)</a:t>
            </a:r>
            <a:r>
              <a:rPr lang="en-US" altLang="en-US">
                <a:sym typeface="+mn-ea"/>
              </a:rPr>
              <a:t>Клиент</a:t>
            </a:r>
            <a:r>
              <a:rPr lang="en-US" altLang="ru-RU">
                <a:sym typeface="+mn-ea"/>
              </a:rPr>
              <a:t> - </a:t>
            </a:r>
            <a:r>
              <a:rPr lang="en-US" altLang="en-US">
                <a:sym typeface="+mn-ea"/>
              </a:rPr>
              <a:t>Договор</a:t>
            </a:r>
            <a:r>
              <a:rPr lang="en-US" altLang="ru-RU">
                <a:sym typeface="+mn-ea"/>
              </a:rPr>
              <a:t> - </a:t>
            </a:r>
            <a:r>
              <a:rPr lang="en-US" altLang="en-US">
                <a:sym typeface="+mn-ea"/>
              </a:rPr>
              <a:t>Один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к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одному</a:t>
            </a:r>
            <a:endParaRPr lang="en-US" altLang="en-US"/>
          </a:p>
          <a:p>
            <a:r>
              <a:rPr lang="en-US" altLang="ru-RU">
                <a:sym typeface="+mn-ea"/>
              </a:rPr>
              <a:t>4)</a:t>
            </a:r>
            <a:r>
              <a:rPr lang="en-US" altLang="en-US">
                <a:sym typeface="+mn-ea"/>
              </a:rPr>
              <a:t>Платеж</a:t>
            </a:r>
            <a:r>
              <a:rPr lang="en-US" altLang="ru-RU">
                <a:sym typeface="+mn-ea"/>
              </a:rPr>
              <a:t> - </a:t>
            </a:r>
            <a:r>
              <a:rPr lang="en-US" altLang="en-US">
                <a:sym typeface="+mn-ea"/>
              </a:rPr>
              <a:t>Кредит</a:t>
            </a:r>
            <a:r>
              <a:rPr lang="en-US" altLang="ru-RU">
                <a:sym typeface="+mn-ea"/>
              </a:rPr>
              <a:t> - </a:t>
            </a:r>
            <a:r>
              <a:rPr lang="en-US" altLang="en-US">
                <a:sym typeface="+mn-ea"/>
              </a:rPr>
              <a:t>Многие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к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одному</a:t>
            </a:r>
            <a:endParaRPr lang="en-US" altLang="en-US"/>
          </a:p>
          <a:p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139165"/>
            <a:ext cx="9418320" cy="45318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dirty="0"/>
              <a:t>Физическая модель данных</a:t>
            </a:r>
            <a:endParaRPr lang="ru-RU" sz="4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61872" y="6272866"/>
            <a:ext cx="9418320" cy="453188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Рис. 3 – физическая модель данных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20" name="Изображение 13"/>
          <p:cNvPicPr>
            <a:picLocks noChangeAspect="1"/>
          </p:cNvPicPr>
          <p:nvPr/>
        </p:nvPicPr>
        <p:blipFill>
          <a:blip r:embed="rId1"/>
          <a:srcRect l="4349"/>
          <a:stretch>
            <a:fillRect/>
          </a:stretch>
        </p:blipFill>
        <p:spPr>
          <a:xfrm>
            <a:off x="1857375" y="592455"/>
            <a:ext cx="8340090" cy="5581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0"/>
            <a:ext cx="9418320" cy="58152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dirty="0"/>
              <a:t>Разработка </a:t>
            </a:r>
            <a:r>
              <a:rPr lang="en-US" sz="4800" dirty="0"/>
              <a:t>SQL </a:t>
            </a:r>
            <a:r>
              <a:rPr lang="ru-RU" sz="4800" dirty="0"/>
              <a:t>запросов</a:t>
            </a:r>
            <a:endParaRPr lang="ru-RU" sz="4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04519" y="581893"/>
            <a:ext cx="4721833" cy="5910714"/>
          </a:xfrm>
        </p:spPr>
        <p:txBody>
          <a:bodyPr>
            <a:normAutofit fontScale="70000"/>
          </a:bodyPr>
          <a:lstStyle/>
          <a:p>
            <a:r>
              <a:rPr lang="en-US" altLang="ru-RU" dirty="0">
                <a:solidFill>
                  <a:schemeClr val="tx1"/>
                </a:solidFill>
              </a:rPr>
              <a:t>CREATE TABLE </a:t>
            </a:r>
            <a:r>
              <a:rPr lang="en-US" altLang="en-US" dirty="0">
                <a:solidFill>
                  <a:schemeClr val="tx1"/>
                </a:solidFill>
              </a:rPr>
              <a:t>Договор</a:t>
            </a:r>
            <a:r>
              <a:rPr lang="en-US" altLang="ru-RU" dirty="0">
                <a:solidFill>
                  <a:schemeClr val="tx1"/>
                </a:solidFill>
              </a:rPr>
              <a:t> (ID_</a:t>
            </a:r>
            <a:r>
              <a:rPr lang="en-US" altLang="en-US" dirty="0">
                <a:solidFill>
                  <a:schemeClr val="tx1"/>
                </a:solidFill>
              </a:rPr>
              <a:t>Кредита</a:t>
            </a:r>
            <a:r>
              <a:rPr lang="en-US" altLang="ru-RU" dirty="0">
                <a:solidFill>
                  <a:schemeClr val="tx1"/>
                </a:solidFill>
              </a:rPr>
              <a:t> INTEGER,ID_</a:t>
            </a:r>
            <a:r>
              <a:rPr lang="en-US" altLang="en-US" dirty="0">
                <a:solidFill>
                  <a:schemeClr val="tx1"/>
                </a:solidFill>
              </a:rPr>
              <a:t>Клиента</a:t>
            </a:r>
            <a:r>
              <a:rPr lang="en-US" altLang="ru-RU" dirty="0">
                <a:solidFill>
                  <a:schemeClr val="tx1"/>
                </a:solidFill>
              </a:rPr>
              <a:t> INTEGER,ID_</a:t>
            </a:r>
            <a:r>
              <a:rPr lang="en-US" altLang="en-US" dirty="0">
                <a:solidFill>
                  <a:schemeClr val="tx1"/>
                </a:solidFill>
              </a:rPr>
              <a:t>Сотрудника</a:t>
            </a:r>
            <a:r>
              <a:rPr lang="en-US" altLang="ru-RU" dirty="0">
                <a:solidFill>
                  <a:schemeClr val="tx1"/>
                </a:solidFill>
              </a:rPr>
              <a:t> TEXT,ID INTEGER PRIMARY KEY UNIQUE,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Фамилия</a:t>
            </a:r>
            <a:r>
              <a:rPr lang="en-US" altLang="ru-RU" dirty="0">
                <a:solidFill>
                  <a:schemeClr val="tx1"/>
                </a:solidFill>
              </a:rPr>
              <a:t> TEXT (20)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Имя</a:t>
            </a:r>
            <a:r>
              <a:rPr lang="en-US" altLang="ru-RU" dirty="0">
                <a:solidFill>
                  <a:schemeClr val="tx1"/>
                </a:solidFill>
              </a:rPr>
              <a:t> TEXT (20)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Отчество</a:t>
            </a:r>
            <a:r>
              <a:rPr lang="en-US" altLang="ru-RU" dirty="0">
                <a:solidFill>
                  <a:schemeClr val="tx1"/>
                </a:solidFill>
              </a:rPr>
              <a:t> TEXT (20)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Дата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рождения</a:t>
            </a:r>
            <a:r>
              <a:rPr lang="en-US" altLang="ru-RU" dirty="0">
                <a:solidFill>
                  <a:schemeClr val="tx1"/>
                </a:solidFill>
              </a:rPr>
              <a:t> TEXT (10)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Серия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паспорта</a:t>
            </a:r>
            <a:r>
              <a:rPr lang="en-US" altLang="ru-RU" dirty="0">
                <a:solidFill>
                  <a:schemeClr val="tx1"/>
                </a:solidFill>
              </a:rPr>
              <a:t> INTEGER (4)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Номер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паспорта</a:t>
            </a:r>
            <a:r>
              <a:rPr lang="en-US" altLang="ru-RU" dirty="0">
                <a:solidFill>
                  <a:schemeClr val="tx1"/>
                </a:solidFill>
              </a:rPr>
              <a:t> INTEGER (6)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ИНН</a:t>
            </a:r>
            <a:r>
              <a:rPr lang="en-US" altLang="ru-RU" dirty="0">
                <a:solidFill>
                  <a:schemeClr val="tx1"/>
                </a:solidFill>
              </a:rPr>
              <a:t> INTEGER (8)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Адрес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проживания</a:t>
            </a:r>
            <a:r>
              <a:rPr lang="en-US" altLang="ru-RU" dirty="0">
                <a:solidFill>
                  <a:schemeClr val="tx1"/>
                </a:solidFill>
              </a:rPr>
              <a:t> TEXT (20)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Номер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телефона</a:t>
            </a:r>
            <a:r>
              <a:rPr lang="en-US" altLang="ru-RU" dirty="0">
                <a:solidFill>
                  <a:schemeClr val="tx1"/>
                </a:solidFill>
              </a:rPr>
              <a:t> INTEGER (11)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Банк</a:t>
            </a:r>
            <a:r>
              <a:rPr lang="en-US" altLang="ru-RU" dirty="0">
                <a:solidFill>
                  <a:schemeClr val="tx1"/>
                </a:solidFill>
              </a:rPr>
              <a:t> TEXT (15)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Сумма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кредита</a:t>
            </a:r>
            <a:r>
              <a:rPr lang="en-US" altLang="ru-RU" dirty="0">
                <a:solidFill>
                  <a:schemeClr val="tx1"/>
                </a:solidFill>
              </a:rPr>
              <a:t> INTEGER (10)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Срок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кредита</a:t>
            </a:r>
            <a:r>
              <a:rPr lang="en-US" altLang="ru-RU" dirty="0">
                <a:solidFill>
                  <a:schemeClr val="tx1"/>
                </a:solidFill>
              </a:rPr>
              <a:t> TEXT (15)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Процентная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ставка</a:t>
            </a:r>
            <a:r>
              <a:rPr lang="en-US" altLang="ru-RU" dirty="0">
                <a:solidFill>
                  <a:schemeClr val="tx1"/>
                </a:solidFill>
              </a:rPr>
              <a:t> TEXT (15)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Цель</a:t>
            </a:r>
            <a:r>
              <a:rPr lang="en-US" altLang="ru-RU" dirty="0">
                <a:solidFill>
                  <a:schemeClr val="tx1"/>
                </a:solidFill>
              </a:rPr>
              <a:t>_</a:t>
            </a:r>
            <a:r>
              <a:rPr lang="en-US" altLang="en-US" dirty="0">
                <a:solidFill>
                  <a:schemeClr val="tx1"/>
                </a:solidFill>
              </a:rPr>
              <a:t>кредита</a:t>
            </a:r>
            <a:r>
              <a:rPr lang="en-US" altLang="ru-RU" dirty="0">
                <a:solidFill>
                  <a:schemeClr val="tx1"/>
                </a:solidFill>
              </a:rPr>
              <a:t> TEXT (25) NOT NULL,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ru-RU" dirty="0">
                <a:solidFill>
                  <a:schemeClr val="tx1"/>
                </a:solidFill>
              </a:rPr>
              <a:t>FOREIGN KEY (ID_</a:t>
            </a:r>
            <a:r>
              <a:rPr lang="en-US" altLang="en-US" dirty="0">
                <a:solidFill>
                  <a:schemeClr val="tx1"/>
                </a:solidFill>
              </a:rPr>
              <a:t>Сотрудника</a:t>
            </a:r>
            <a:r>
              <a:rPr lang="en-US" altLang="ru-RU" dirty="0">
                <a:solidFill>
                  <a:schemeClr val="tx1"/>
                </a:solidFill>
              </a:rPr>
              <a:t>) REFERENCES </a:t>
            </a:r>
            <a:r>
              <a:rPr lang="en-US" altLang="en-US" dirty="0">
                <a:solidFill>
                  <a:schemeClr val="tx1"/>
                </a:solidFill>
              </a:rPr>
              <a:t>Сотрудник</a:t>
            </a:r>
            <a:r>
              <a:rPr lang="en-US" altLang="ru-RU" dirty="0">
                <a:solidFill>
                  <a:schemeClr val="tx1"/>
                </a:solidFill>
              </a:rPr>
              <a:t> (ID) ON DELETE CASCADE ON UPDATE CASCADE,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ru-RU" dirty="0">
                <a:solidFill>
                  <a:schemeClr val="tx1"/>
                </a:solidFill>
              </a:rPr>
              <a:t>FOREIGN KEY (ID_</a:t>
            </a:r>
            <a:r>
              <a:rPr lang="en-US" altLang="en-US" dirty="0">
                <a:solidFill>
                  <a:schemeClr val="tx1"/>
                </a:solidFill>
              </a:rPr>
              <a:t>Клиента</a:t>
            </a:r>
            <a:r>
              <a:rPr lang="en-US" altLang="ru-RU" dirty="0">
                <a:solidFill>
                  <a:schemeClr val="tx1"/>
                </a:solidFill>
              </a:rPr>
              <a:t>) REFERENCES </a:t>
            </a:r>
            <a:r>
              <a:rPr lang="en-US" altLang="en-US" dirty="0">
                <a:solidFill>
                  <a:schemeClr val="tx1"/>
                </a:solidFill>
              </a:rPr>
              <a:t>Клиент</a:t>
            </a:r>
            <a:r>
              <a:rPr lang="en-US" altLang="ru-RU" dirty="0">
                <a:solidFill>
                  <a:schemeClr val="tx1"/>
                </a:solidFill>
              </a:rPr>
              <a:t> (ID) ON DELETE CASCADE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ru-RU" dirty="0">
                <a:solidFill>
                  <a:schemeClr val="tx1"/>
                </a:solidFill>
              </a:rPr>
              <a:t>ON UPDATE CASCADE,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ru-RU" dirty="0">
                <a:solidFill>
                  <a:schemeClr val="tx1"/>
                </a:solidFill>
              </a:rPr>
              <a:t>FOREIGN KEY (ID_</a:t>
            </a:r>
            <a:r>
              <a:rPr lang="en-US" altLang="en-US" dirty="0">
                <a:solidFill>
                  <a:schemeClr val="tx1"/>
                </a:solidFill>
              </a:rPr>
              <a:t>Кредита</a:t>
            </a:r>
            <a:r>
              <a:rPr lang="en-US" altLang="ru-RU" dirty="0">
                <a:solidFill>
                  <a:schemeClr val="tx1"/>
                </a:solidFill>
              </a:rPr>
              <a:t>) REFERENCES </a:t>
            </a:r>
            <a:r>
              <a:rPr lang="en-US" altLang="en-US" dirty="0">
                <a:solidFill>
                  <a:schemeClr val="tx1"/>
                </a:solidFill>
              </a:rPr>
              <a:t>Кредит</a:t>
            </a:r>
            <a:r>
              <a:rPr lang="en-US" altLang="ru-RU" dirty="0">
                <a:solidFill>
                  <a:schemeClr val="tx1"/>
                </a:solidFill>
              </a:rPr>
              <a:t> (ID) ON DELETE CASCADE</a:t>
            </a:r>
            <a:endParaRPr lang="en-US" altLang="ru-RU" dirty="0">
              <a:solidFill>
                <a:schemeClr val="tx1"/>
              </a:solidFill>
            </a:endParaRPr>
          </a:p>
          <a:p>
            <a:r>
              <a:rPr lang="en-US" altLang="ru-RU" dirty="0">
                <a:solidFill>
                  <a:schemeClr val="tx1"/>
                </a:solidFill>
              </a:rPr>
              <a:t>ON UPDATE CASCADE);</a:t>
            </a:r>
            <a:endParaRPr lang="en-US" altLang="ru-RU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83748" y="5553610"/>
            <a:ext cx="28778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Рис. 4 – таблица Договор</a:t>
            </a:r>
            <a:endParaRPr lang="ru-RU" dirty="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4790" y="713740"/>
            <a:ext cx="6238240" cy="4761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91820" y="528955"/>
            <a:ext cx="4942205" cy="6096635"/>
          </a:xfrm>
        </p:spPr>
        <p:txBody>
          <a:bodyPr>
            <a:noAutofit/>
          </a:bodyPr>
          <a:lstStyle/>
          <a:p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TRIGGER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INSERT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ИНН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NOT NULL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Отчество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Серия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Номер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ИНН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проживания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Номер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(NEW.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Отчество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Серия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Номер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ИНН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проживания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Номер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ID_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Клиента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(SELECT MAX(ID) FROM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ROWID = NEW.ROWID;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END;</a:t>
            </a:r>
            <a:endParaRPr lang="en-US" alt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386840" y="0"/>
            <a:ext cx="9418320" cy="58152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dirty="0"/>
              <a:t>Разработка </a:t>
            </a:r>
            <a:r>
              <a:rPr lang="en-US" sz="4800" dirty="0"/>
              <a:t>SQL </a:t>
            </a:r>
            <a:r>
              <a:rPr lang="ru-RU" sz="4800" dirty="0"/>
              <a:t>запросов</a:t>
            </a:r>
            <a:endParaRPr lang="ru-RU"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5748528" y="723134"/>
            <a:ext cx="5534527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TRIGGER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INSERT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NEW.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NULL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Процентная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ставка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(NEW.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Процентная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ставка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DATE('now') );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ID_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(SELECT MAX(ID) FROM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ROWID = NEW.ROWID;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END;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40665" y="646430"/>
            <a:ext cx="6011545" cy="5353050"/>
          </a:xfrm>
        </p:spPr>
        <p:txBody>
          <a:bodyPr>
            <a:normAutofit/>
          </a:bodyPr>
          <a:lstStyle/>
          <a:p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“INSERT INTO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Имя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Отчество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рождения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Серия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Номер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ИНН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проживания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Номер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Банк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Срок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Процентная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ставка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кредита</a:t>
            </a:r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" +</a:t>
            </a:r>
            <a:endParaRPr lang="en-US" alt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"VALUES (@LastName, @FirstName, @MiddleName, @BirthDate, @PassportSeries, @PassportNumber, @INN, @Address, @PhoneNumber, @BankName, @CreditAmount, @CreditTerm, @AnnualRate, @CreditPurpose)";</a:t>
            </a:r>
            <a:endParaRPr lang="en-US" alt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386840" y="0"/>
            <a:ext cx="9418320" cy="58152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dirty="0"/>
              <a:t>Разработка </a:t>
            </a:r>
            <a:r>
              <a:rPr lang="en-US" sz="4800" dirty="0"/>
              <a:t>SQL </a:t>
            </a:r>
            <a:r>
              <a:rPr lang="ru-RU" sz="4800" dirty="0"/>
              <a:t>запросов</a:t>
            </a:r>
            <a:endParaRPr lang="ru-RU" sz="4800" dirty="0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6400800" y="646430"/>
            <a:ext cx="499681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"UPDATE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@surname,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Имя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@name,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Отчество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@lastName,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ИНН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@INN,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Дата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рождения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@data_roda,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Серия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паспорта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@seria_pasporta,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Номер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паспорта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@number_pasporta,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проживания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@address,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Номер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телефона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@number_phone,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Дата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регистрации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@data_reg WHERE ID = @id";</a:t>
            </a:r>
            <a:endParaRPr lang="en-US" alt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74997"/>
            <a:ext cx="9418320" cy="58152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dirty="0"/>
              <a:t>Тестирование АИС</a:t>
            </a:r>
            <a:endParaRPr lang="ru-RU" sz="5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24069" y="5469890"/>
            <a:ext cx="3598886" cy="43995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Рис. 5 – Форма авторизации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2"/>
          <p:cNvSpPr txBox="1"/>
          <p:nvPr/>
        </p:nvSpPr>
        <p:spPr>
          <a:xfrm>
            <a:off x="5614737" y="5469890"/>
            <a:ext cx="5570100" cy="4399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22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900" dirty="0">
                <a:solidFill>
                  <a:schemeClr val="tx1"/>
                </a:solidFill>
              </a:rPr>
              <a:t>Рис. 6 – Ошибка при вводе неверного логина или пароля</a:t>
            </a:r>
            <a:endParaRPr lang="ru-RU" sz="1900" dirty="0">
              <a:solidFill>
                <a:schemeClr val="tx1"/>
              </a:solidFill>
            </a:endParaRPr>
          </a:p>
        </p:txBody>
      </p:sp>
      <p:pic>
        <p:nvPicPr>
          <p:cNvPr id="26" name="Изображение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062990"/>
            <a:ext cx="44577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Изображение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550" y="1020445"/>
            <a:ext cx="4245610" cy="4449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128337"/>
            <a:ext cx="9418320" cy="806116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Тестирование АИС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86840" y="6261230"/>
            <a:ext cx="9418320" cy="568694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Рис. 9 – рабочее окно администратора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29" name="Изображение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135" y="934720"/>
            <a:ext cx="9388475" cy="5194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Тестирование АИС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721100" y="6036945"/>
            <a:ext cx="4749165" cy="459105"/>
          </a:xfrm>
        </p:spPr>
        <p:txBody>
          <a:bodyPr/>
          <a:p>
            <a:pPr marL="0" indent="0">
              <a:buNone/>
            </a:pPr>
            <a:r>
              <a:rPr lang="ru-RU" altLang="en-US" sz="1800"/>
              <a:t>Рис 10. - Окно админимтратора (Договор)</a:t>
            </a:r>
            <a:endParaRPr lang="ru-RU" altLang="en-US" sz="1800"/>
          </a:p>
        </p:txBody>
      </p:sp>
      <p:pic>
        <p:nvPicPr>
          <p:cNvPr id="33" name="Изображение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710" y="1417955"/>
            <a:ext cx="8451215" cy="4282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160420"/>
            <a:ext cx="9418320" cy="69382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Тестирование АИС</a:t>
            </a:r>
            <a:endParaRPr lang="ru-RU" dirty="0"/>
          </a:p>
        </p:txBody>
      </p:sp>
      <p:sp>
        <p:nvSpPr>
          <p:cNvPr id="8" name="Текст 2"/>
          <p:cNvSpPr txBox="1"/>
          <p:nvPr/>
        </p:nvSpPr>
        <p:spPr>
          <a:xfrm>
            <a:off x="1351537" y="5398475"/>
            <a:ext cx="9418320" cy="693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22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tx1"/>
                </a:solidFill>
              </a:rPr>
              <a:t>Рис. 11 – окно администрации (Кредит)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4" name="Изображение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840" y="854075"/>
            <a:ext cx="8573135" cy="4357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160420"/>
            <a:ext cx="9418320" cy="74194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Тестирование АИС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61871" y="4395538"/>
            <a:ext cx="9418320" cy="461211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Рис. 12 - Меню в окне администратора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9179" y="5312585"/>
            <a:ext cx="10355981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На рисунке 12 представлено Меню, в котором есть 2 кнопки: «Обновить»: обновляет данные таблиц и</a:t>
            </a:r>
            <a:r>
              <a:rPr lang="en-US" sz="2800" dirty="0"/>
              <a:t> </a:t>
            </a:r>
            <a:r>
              <a:rPr lang="ru-RU" altLang="en-US" sz="2800" dirty="0"/>
              <a:t>«В</a:t>
            </a:r>
            <a:r>
              <a:rPr lang="ru-RU" sz="2800" dirty="0"/>
              <a:t>ыход»: выход из программы</a:t>
            </a:r>
            <a:endParaRPr lang="ru-RU" sz="2800" dirty="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2365" y="1939290"/>
            <a:ext cx="643001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192504"/>
            <a:ext cx="9418320" cy="725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Тестирование АИС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86840" y="5993237"/>
            <a:ext cx="9418320" cy="989798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Рис. 13 – окно пользователя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28" name="Изображение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75" y="719455"/>
            <a:ext cx="10505440" cy="5107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Тестирование АИС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598545" y="4698365"/>
            <a:ext cx="5206365" cy="951865"/>
          </a:xfrm>
        </p:spPr>
        <p:txBody>
          <a:bodyPr/>
          <a:p>
            <a:pPr marL="0" indent="0">
              <a:buNone/>
            </a:pPr>
            <a:r>
              <a:rPr lang="ru-RU" altLang="en-US" sz="1800"/>
              <a:t>Рис 14 . </a:t>
            </a:r>
            <a:r>
              <a:rPr lang="ru-RU" altLang="en-US" sz="1800"/>
              <a:t>Окно пользователя (Платеж)</a:t>
            </a:r>
            <a:endParaRPr lang="ru-RU" altLang="en-US" sz="1800"/>
          </a:p>
        </p:txBody>
      </p:sp>
      <p:pic>
        <p:nvPicPr>
          <p:cNvPr id="11" name="Изображение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165" y="1417955"/>
            <a:ext cx="9081135" cy="307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6840" y="365760"/>
            <a:ext cx="9418320" cy="56548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Заключение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61872" y="931244"/>
            <a:ext cx="9418320" cy="5560996"/>
          </a:xfrm>
        </p:spPr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данной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были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решены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поставленные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направленные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Автоматизированной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Информационной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АИС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отдела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кредитования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уделялось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базы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обеспечивающей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такой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автоматизировать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кредитования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оформления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соответствующих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документов</a:t>
            </a:r>
            <a:r>
              <a:rPr lang="en-US" alt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0</TotalTime>
  <Words>5246</Words>
  <Application>WPS Presentation</Application>
  <PresentationFormat>Широкоэкранный</PresentationFormat>
  <Paragraphs>140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SimSun</vt:lpstr>
      <vt:lpstr>Wingdings</vt:lpstr>
      <vt:lpstr>Times New Roman</vt:lpstr>
      <vt:lpstr>Calibri</vt:lpstr>
      <vt:lpstr>Wingdings 2</vt:lpstr>
      <vt:lpstr>Wingdings</vt:lpstr>
      <vt:lpstr>Microsoft YaHei</vt:lpstr>
      <vt:lpstr>Arial Unicode MS</vt:lpstr>
      <vt:lpstr>Bahnschrift SemiCondensed</vt:lpstr>
      <vt:lpstr>Cambria</vt:lpstr>
      <vt:lpstr>Cascadia Mono Light</vt:lpstr>
      <vt:lpstr>Corbel</vt:lpstr>
      <vt:lpstr>Segoe Print</vt:lpstr>
      <vt:lpstr>Segoe UI</vt:lpstr>
      <vt:lpstr>Segoe UI Semilight</vt:lpstr>
      <vt:lpstr>Sitka Small</vt:lpstr>
      <vt:lpstr>Tahoma</vt:lpstr>
      <vt:lpstr>Default Design</vt:lpstr>
      <vt:lpstr> Курсовая работа  Тема: АИС ГИБДД</vt:lpstr>
      <vt:lpstr>PowerPoint 演示文稿</vt:lpstr>
      <vt:lpstr>Таблица сравнения языков, сред программирования и СУБД</vt:lpstr>
      <vt:lpstr>Описание предметной области</vt:lpstr>
      <vt:lpstr>Концептуальная модель данных</vt:lpstr>
      <vt:lpstr>Логическая модель данных</vt:lpstr>
      <vt:lpstr>Физическая модель данных</vt:lpstr>
      <vt:lpstr>Разработка SQL запросов</vt:lpstr>
      <vt:lpstr>Разработка SQL запросов</vt:lpstr>
      <vt:lpstr>Разработка SQL запросов</vt:lpstr>
      <vt:lpstr>Тестирование АИС</vt:lpstr>
      <vt:lpstr>Тестирование АИС</vt:lpstr>
      <vt:lpstr>PowerPoint 演示文稿</vt:lpstr>
      <vt:lpstr>Тестирование АИС</vt:lpstr>
      <vt:lpstr>Тестирование АИС</vt:lpstr>
      <vt:lpstr>Тестирование АИС</vt:lpstr>
      <vt:lpstr>PowerPoint 演示文稿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АИС ГИБДД</dc:title>
  <dc:creator>vorobev_nikita_2017@mail.ru</dc:creator>
  <cp:lastModifiedBy>user</cp:lastModifiedBy>
  <cp:revision>15</cp:revision>
  <dcterms:created xsi:type="dcterms:W3CDTF">2024-12-23T10:23:00Z</dcterms:created>
  <dcterms:modified xsi:type="dcterms:W3CDTF">2024-12-26T07:47:01Z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4B1532CA7EB44A71A7BD9CEE1EE7FF14_13</vt:lpwstr>
  </property>
  <property fmtid="{D5CDD505-2E9C-101B-9397-08002B2CF9AE}" pid="3" name="KSOProductBuildVer">
    <vt:lpwstr>1049-12.2.0.19778</vt:lpwstr>
  </property>
</Properties>
</file>